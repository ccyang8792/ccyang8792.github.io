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1" r:id="rId6"/>
    <p:sldId id="264" r:id="rId7"/>
    <p:sldId id="260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C652E-0CA9-44EE-9A09-3D94818FE26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6C75E-CA07-4A8F-A650-AC05A5564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09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6C75E-CA07-4A8F-A650-AC05A5564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71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81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85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0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2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4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40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0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1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63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15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87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29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8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51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58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9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7EF5586-CC5E-4FC8-9E84-C4D107DC7BC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DE855DE-6186-4D56-B694-05A6FE873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0DE2-690E-E816-5FF6-01BBBBF16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GAME ACTIVITY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81C4F-FC0E-9621-2144-31B195121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CHONG YANG</a:t>
            </a:r>
          </a:p>
        </p:txBody>
      </p:sp>
    </p:spTree>
    <p:extLst>
      <p:ext uri="{BB962C8B-B14F-4D97-AF65-F5344CB8AC3E}">
        <p14:creationId xmlns:p14="http://schemas.microsoft.com/office/powerpoint/2010/main" val="1831444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840C7A-5F0D-EF75-A7FA-AF4E3A98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D58AEB-2B0E-3399-0DEA-405C4314EE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 anchorCtr="0">
            <a:normAutofit lnSpcReduction="10000"/>
          </a:bodyPr>
          <a:lstStyle/>
          <a:p>
            <a:r>
              <a:rPr lang="en-US" sz="2000" dirty="0"/>
              <a:t>Composite Feature</a:t>
            </a:r>
          </a:p>
          <a:p>
            <a:r>
              <a:rPr lang="en-US" sz="2000" dirty="0"/>
              <a:t>Behavioral Feature</a:t>
            </a:r>
          </a:p>
          <a:p>
            <a:r>
              <a:rPr lang="en-US" sz="2000" dirty="0"/>
              <a:t>Variability &amp; Consistency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443A3-6ED8-9FB5-879E-4DC2B31543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 anchorCtr="0">
            <a:normAutofit lnSpcReduction="10000"/>
          </a:bodyPr>
          <a:lstStyle/>
          <a:p>
            <a:r>
              <a:rPr lang="en-US" dirty="0"/>
              <a:t>Engagement Score</a:t>
            </a:r>
          </a:p>
          <a:p>
            <a:r>
              <a:rPr lang="en-US" dirty="0"/>
              <a:t>Engagement Type</a:t>
            </a:r>
          </a:p>
          <a:p>
            <a:r>
              <a:rPr lang="en-US" dirty="0"/>
              <a:t>Engagement Rank</a:t>
            </a:r>
          </a:p>
          <a:p>
            <a:r>
              <a:rPr lang="en-US" dirty="0"/>
              <a:t>Play-Style Type</a:t>
            </a:r>
          </a:p>
          <a:p>
            <a:r>
              <a:rPr lang="en-US" dirty="0"/>
              <a:t>Session Duration Variance</a:t>
            </a:r>
          </a:p>
          <a:p>
            <a:r>
              <a:rPr lang="en-US" dirty="0"/>
              <a:t>Recency Activity (Last 30 Days)</a:t>
            </a:r>
          </a:p>
          <a:p>
            <a:r>
              <a:rPr lang="en-US" dirty="0"/>
              <a:t>Loyalty Score</a:t>
            </a:r>
          </a:p>
          <a:p>
            <a:r>
              <a:rPr lang="en-US" dirty="0"/>
              <a:t>User Value</a:t>
            </a:r>
          </a:p>
        </p:txBody>
      </p:sp>
    </p:spTree>
    <p:extLst>
      <p:ext uri="{BB962C8B-B14F-4D97-AF65-F5344CB8AC3E}">
        <p14:creationId xmlns:p14="http://schemas.microsoft.com/office/powerpoint/2010/main" val="53194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A823-782A-3312-5C7F-36DE45DC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Query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C99BE4-07F4-FEFF-C12E-8C702F39D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1" y="2666999"/>
            <a:ext cx="10116642" cy="392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2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85C7D9-EFF6-791B-0444-B999B272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EType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AB9428-39EB-5A60-3B76-CACFDF5B8F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Core:  681</a:t>
            </a:r>
          </a:p>
          <a:p>
            <a:r>
              <a:rPr lang="en-US" dirty="0"/>
              <a:t>Casual:  190</a:t>
            </a:r>
          </a:p>
          <a:p>
            <a:r>
              <a:rPr lang="en-US" dirty="0"/>
              <a:t>Hardcore:  130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EScore</a:t>
            </a:r>
            <a:r>
              <a:rPr lang="en-US" dirty="0"/>
              <a:t> =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TotalSessions</a:t>
            </a:r>
            <a:r>
              <a:rPr lang="en-US" dirty="0"/>
              <a:t> * 0.4) +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EventsPerSessions</a:t>
            </a:r>
            <a:r>
              <a:rPr lang="en-US" dirty="0"/>
              <a:t> * 0.1) +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ActiveDays</a:t>
            </a:r>
            <a:r>
              <a:rPr lang="en-US" dirty="0"/>
              <a:t> * 0.5 )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66879F-91C6-95AD-533C-43A36AB5AF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81604" y="2667000"/>
            <a:ext cx="4346991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20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196D-6CB8-E31F-FEFE-538775EF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3EB9-8B47-030B-A320-6ED6281F26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Low:  619</a:t>
            </a:r>
          </a:p>
          <a:p>
            <a:r>
              <a:rPr lang="en-US" dirty="0"/>
              <a:t>Medium:  236</a:t>
            </a:r>
          </a:p>
          <a:p>
            <a:r>
              <a:rPr lang="en-US" dirty="0"/>
              <a:t>High:  146</a:t>
            </a:r>
          </a:p>
          <a:p>
            <a:pPr marL="0" indent="0">
              <a:buNone/>
            </a:pPr>
            <a:r>
              <a:rPr lang="en-US" dirty="0"/>
              <a:t>Based off Loyalty</a:t>
            </a:r>
          </a:p>
          <a:p>
            <a:pPr marL="0" indent="0">
              <a:buNone/>
            </a:pPr>
            <a:r>
              <a:rPr lang="en-US" dirty="0"/>
              <a:t>Loyalty = (</a:t>
            </a:r>
            <a:r>
              <a:rPr lang="en-US" dirty="0" err="1"/>
              <a:t>AvgMoneySpent</a:t>
            </a:r>
            <a:r>
              <a:rPr lang="en-US" dirty="0"/>
              <a:t> * 0.75) + 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AvgSessionDuration</a:t>
            </a:r>
            <a:r>
              <a:rPr lang="en-US" dirty="0"/>
              <a:t> * 0.25)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99676F-DDA6-77D9-6B55-A6BF82C46A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9441" y="2667000"/>
            <a:ext cx="4011318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44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AC3B-5489-D553-3995-8943A01E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Categories were Determined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3E3F91-3346-EC84-D02D-2AA3A72B97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61534" y="2667000"/>
            <a:ext cx="5542961" cy="312420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59318D-6D43-22E6-9435-0AC54F6294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11950" y="2667000"/>
            <a:ext cx="46863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9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EE73-B4F5-3A1B-256F-F17C6940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Play-Style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3D46-EB3F-39D3-382A-7B54DA2872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Balance:  849</a:t>
            </a:r>
          </a:p>
          <a:p>
            <a:r>
              <a:rPr lang="en-US" dirty="0"/>
              <a:t>Burst:  144</a:t>
            </a:r>
          </a:p>
          <a:p>
            <a:r>
              <a:rPr lang="en-US" dirty="0"/>
              <a:t>Marathon:  8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15A07B-77C4-8810-23DC-D8CE0E0AAA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49364" y="2667000"/>
            <a:ext cx="4011472" cy="3124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FBA87B-D7B7-8EAD-2F32-8E77F4083A0A}"/>
              </a:ext>
            </a:extLst>
          </p:cNvPr>
          <p:cNvSpPr txBox="1"/>
          <p:nvPr/>
        </p:nvSpPr>
        <p:spPr>
          <a:xfrm>
            <a:off x="2309566" y="6019800"/>
            <a:ext cx="9193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case when </a:t>
            </a:r>
            <a:r>
              <a:rPr lang="en-US" dirty="0" err="1"/>
              <a:t>AvgDurationSessions</a:t>
            </a:r>
            <a:r>
              <a:rPr lang="en-US" dirty="0"/>
              <a:t>&gt;120 and </a:t>
            </a:r>
            <a:r>
              <a:rPr lang="en-US" dirty="0" err="1"/>
              <a:t>TotalSession</a:t>
            </a:r>
            <a:r>
              <a:rPr lang="en-US" dirty="0"/>
              <a:t> &lt;5 </a:t>
            </a:r>
            <a:r>
              <a:rPr lang="en-US" dirty="0">
                <a:solidFill>
                  <a:srgbClr val="0070C0"/>
                </a:solidFill>
              </a:rPr>
              <a:t>then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'Marathon</a:t>
            </a:r>
            <a:r>
              <a:rPr lang="en-US" dirty="0"/>
              <a:t>' </a:t>
            </a:r>
            <a:r>
              <a:rPr lang="en-US" dirty="0">
                <a:solidFill>
                  <a:srgbClr val="0070C0"/>
                </a:solidFill>
              </a:rPr>
              <a:t>when</a:t>
            </a:r>
            <a:r>
              <a:rPr lang="en-US" dirty="0"/>
              <a:t> </a:t>
            </a:r>
            <a:r>
              <a:rPr lang="en-US" dirty="0" err="1"/>
              <a:t>AvgDurationSessions</a:t>
            </a:r>
            <a:r>
              <a:rPr lang="en-US" dirty="0"/>
              <a:t>&lt;60 and </a:t>
            </a:r>
            <a:r>
              <a:rPr lang="en-US" dirty="0" err="1"/>
              <a:t>TotalSession</a:t>
            </a:r>
            <a:r>
              <a:rPr lang="en-US" dirty="0"/>
              <a:t> &gt;10 </a:t>
            </a:r>
            <a:r>
              <a:rPr lang="en-US" dirty="0">
                <a:solidFill>
                  <a:srgbClr val="0070C0"/>
                </a:solidFill>
              </a:rPr>
              <a:t>then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'Burst</a:t>
            </a:r>
            <a:r>
              <a:rPr lang="en-US" dirty="0"/>
              <a:t>' </a:t>
            </a:r>
            <a:r>
              <a:rPr lang="en-US" dirty="0">
                <a:solidFill>
                  <a:srgbClr val="0070C0"/>
                </a:solidFill>
              </a:rPr>
              <a:t>else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'Balance</a:t>
            </a:r>
            <a:r>
              <a:rPr lang="en-US" dirty="0"/>
              <a:t>' </a:t>
            </a:r>
            <a:r>
              <a:rPr lang="en-US" dirty="0">
                <a:solidFill>
                  <a:srgbClr val="0070C0"/>
                </a:solidFill>
              </a:rPr>
              <a:t>end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 err="1"/>
              <a:t>PlayStyle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8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396C0D-2BE0-FD1C-1515-BCFEE2458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of Session Duration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F2E18A-07A9-9C83-1DED-904EC857F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601" y="2130459"/>
            <a:ext cx="7220933" cy="44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7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1B12-07B2-B6CE-5CB6-3095CD6D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Recent Activity Ratio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A9883E-4F73-8655-EE27-BD6AC3D65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5048" y="2158738"/>
            <a:ext cx="7117237" cy="401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04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7844-FE29-DAD1-C448-D5C3208F1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Validation Check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C88F5-D8F9-DE07-35C1-68F93D031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0617" y="2036191"/>
            <a:ext cx="10122407" cy="3434892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en-US" dirty="0">
              <a:solidFill>
                <a:srgbClr val="0070C0"/>
              </a:solidFill>
            </a:endParaRPr>
          </a:p>
          <a:p>
            <a:pPr>
              <a:buFontTx/>
              <a:buChar char="-"/>
            </a:pP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count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distinct</a:t>
            </a:r>
            <a:r>
              <a:rPr lang="en-US" dirty="0"/>
              <a:t>(</a:t>
            </a:r>
            <a:r>
              <a:rPr lang="en-US" dirty="0" err="1"/>
              <a:t>playerid</a:t>
            </a:r>
            <a:r>
              <a:rPr lang="en-US" dirty="0"/>
              <a:t>))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 </a:t>
            </a:r>
            <a:r>
              <a:rPr lang="en-US" dirty="0" err="1"/>
              <a:t>TotalPlayers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GamesActivityClean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= 1001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playerid</a:t>
            </a:r>
            <a:r>
              <a:rPr lang="en-US" dirty="0"/>
              <a:t>,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count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distinct</a:t>
            </a:r>
            <a:r>
              <a:rPr lang="en-US" dirty="0"/>
              <a:t>(</a:t>
            </a:r>
            <a:r>
              <a:rPr lang="en-US" dirty="0" err="1"/>
              <a:t>matchID</a:t>
            </a:r>
            <a:r>
              <a:rPr lang="en-US" dirty="0"/>
              <a:t>)) </a:t>
            </a:r>
            <a:r>
              <a:rPr lang="en-US" dirty="0">
                <a:solidFill>
                  <a:srgbClr val="0070C0"/>
                </a:solidFill>
              </a:rPr>
              <a:t>as</a:t>
            </a:r>
            <a:r>
              <a:rPr lang="en-US" dirty="0"/>
              <a:t> </a:t>
            </a:r>
            <a:r>
              <a:rPr lang="en-US" dirty="0" err="1"/>
              <a:t>totalsessions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GamesActivityClean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playerid</a:t>
            </a:r>
            <a:r>
              <a:rPr lang="en-US" dirty="0"/>
              <a:t>=1002129</a:t>
            </a:r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playerId</a:t>
            </a:r>
            <a:r>
              <a:rPr lang="en-US" dirty="0"/>
              <a:t> 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213A76-993E-31B7-76F8-42FFF9AB0C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23733" y="5360124"/>
            <a:ext cx="9879291" cy="6510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888F3D-1FB6-547E-F5F3-E346051DB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750" y="3788790"/>
            <a:ext cx="2144407" cy="5425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CCF868-C3B8-442B-A5E6-69964F87B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750" y="2132914"/>
            <a:ext cx="1319042" cy="52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0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3E49E7-166C-77F0-2178-2A3634828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Continue…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A190FA-1480-FE30-FF65-C434F8B52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select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800" dirty="0"/>
              <a:t>(</a:t>
            </a:r>
            <a:r>
              <a:rPr lang="en-US" sz="1800" dirty="0" err="1"/>
              <a:t>currencySpent</a:t>
            </a:r>
            <a:r>
              <a:rPr lang="en-US" sz="1800" dirty="0"/>
              <a:t>) </a:t>
            </a:r>
            <a:r>
              <a:rPr lang="en-US" sz="1800" dirty="0">
                <a:solidFill>
                  <a:srgbClr val="0070C0"/>
                </a:solidFill>
              </a:rPr>
              <a:t>as</a:t>
            </a:r>
            <a:r>
              <a:rPr lang="en-US" sz="1800" dirty="0"/>
              <a:t> </a:t>
            </a:r>
            <a:r>
              <a:rPr lang="en-US" sz="1800" dirty="0" err="1"/>
              <a:t>MoneySpent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count</a:t>
            </a:r>
            <a:r>
              <a:rPr lang="en-US" sz="1800" dirty="0"/>
              <a:t>(</a:t>
            </a:r>
            <a:r>
              <a:rPr lang="en-US" sz="1800" dirty="0">
                <a:solidFill>
                  <a:srgbClr val="0070C0"/>
                </a:solidFill>
              </a:rPr>
              <a:t>case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when</a:t>
            </a:r>
            <a:r>
              <a:rPr lang="en-US" sz="1800" dirty="0"/>
              <a:t> </a:t>
            </a:r>
            <a:r>
              <a:rPr lang="en-US" sz="1800" dirty="0" err="1"/>
              <a:t>currencySpent</a:t>
            </a:r>
            <a:r>
              <a:rPr lang="en-US" sz="1800" dirty="0"/>
              <a:t> &lt;&gt;0 </a:t>
            </a:r>
            <a:r>
              <a:rPr lang="en-US" sz="1800" dirty="0">
                <a:solidFill>
                  <a:srgbClr val="0070C0"/>
                </a:solidFill>
              </a:rPr>
              <a:t>then</a:t>
            </a:r>
            <a:r>
              <a:rPr lang="en-US" sz="1800" dirty="0"/>
              <a:t> </a:t>
            </a:r>
            <a:r>
              <a:rPr lang="en-US" sz="1800" dirty="0" err="1"/>
              <a:t>currencySpent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end</a:t>
            </a:r>
            <a:r>
              <a:rPr lang="en-US" sz="1800" dirty="0"/>
              <a:t>) </a:t>
            </a:r>
            <a:r>
              <a:rPr lang="en-US" sz="1800" dirty="0">
                <a:solidFill>
                  <a:srgbClr val="0070C0"/>
                </a:solidFill>
              </a:rPr>
              <a:t>as</a:t>
            </a:r>
            <a:r>
              <a:rPr lang="en-US" sz="1800" dirty="0"/>
              <a:t> Count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GamesActivityClean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where </a:t>
            </a:r>
            <a:r>
              <a:rPr lang="en-US" sz="1800" dirty="0" err="1"/>
              <a:t>playerId</a:t>
            </a:r>
            <a:r>
              <a:rPr lang="en-US" sz="1800" dirty="0"/>
              <a:t>=1002129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8E18E3-6A66-B8E1-2425-F24FE5EF9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6" y="2830334"/>
            <a:ext cx="2243346" cy="685864"/>
          </a:xfrm>
          <a:prstGeom prst="rect">
            <a:avLst/>
          </a:prstGeo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1F073B94-C3A1-9A38-0060-976E45D2F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29" y="5368766"/>
            <a:ext cx="9879291" cy="65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40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138</TotalTime>
  <Words>211</Words>
  <Application>Microsoft Office PowerPoint</Application>
  <PresentationFormat>Widescreen</PresentationFormat>
  <Paragraphs>55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Corbel</vt:lpstr>
      <vt:lpstr>Wingdings</vt:lpstr>
      <vt:lpstr>Parallax</vt:lpstr>
      <vt:lpstr>GAME ACTIVITY DATASET</vt:lpstr>
      <vt:lpstr>Features</vt:lpstr>
      <vt:lpstr>Results Query</vt:lpstr>
      <vt:lpstr>EType</vt:lpstr>
      <vt:lpstr>User Value</vt:lpstr>
      <vt:lpstr>How Categories were Determined</vt:lpstr>
      <vt:lpstr>Play-Style</vt:lpstr>
      <vt:lpstr>Variance of Session Duration</vt:lpstr>
      <vt:lpstr>Recent Activity Ratio</vt:lpstr>
      <vt:lpstr>Data Validation Check</vt:lpstr>
      <vt:lpstr>Validation Continue…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Chong Chang</dc:creator>
  <cp:lastModifiedBy>Yang, Chong Chang</cp:lastModifiedBy>
  <cp:revision>4</cp:revision>
  <dcterms:created xsi:type="dcterms:W3CDTF">2026-02-06T15:30:42Z</dcterms:created>
  <dcterms:modified xsi:type="dcterms:W3CDTF">2026-02-09T23:19:31Z</dcterms:modified>
</cp:coreProperties>
</file>